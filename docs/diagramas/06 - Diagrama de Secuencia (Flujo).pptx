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70832"/>
            <a:ext cx="12191695" cy="5486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28346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600" b="1" i="0">
                <a:solidFill>
                  <a:srgbClr val="E86C1A"/>
                </a:solidFill>
                <a:latin typeface="Calibri"/>
              </a:rPr>
              <a:t>ECIWISE-TODO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Diagrama de Secuencia</a:t>
            </a:r>
          </a:p>
          <a:p>
            <a:pPr algn="l"/>
            <a:r>
              <a:rPr sz="1700" b="0" i="1">
                <a:solidFill>
                  <a:srgbClr val="BFD3E6"/>
                </a:solidFill>
                <a:latin typeface="Calibri"/>
              </a:rPr>
              <a:t>Flujo principal: completar una tarea (PATCH /api/tasks/{id}/status) con autenticación JWT y otorgamiento de logros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663440"/>
            <a:ext cx="10515600" cy="17373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Validación del Bearer token y auto-provisión JIT del usuario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Registro en el historial de completadas (sobrevive al borrado de la tarea)</a:t>
            </a:r>
          </a:p>
          <a:p>
            <a:pPr algn="l"/>
            <a:r>
              <a:rPr sz="1250" b="0" i="0">
                <a:solidFill>
                  <a:srgbClr val="D9E4EF"/>
                </a:solidFill>
                <a:latin typeface="Calibri"/>
              </a:rPr>
              <a:t>•  AchievementService otorga una felicitación cada 5 tareas completadas</a:t>
            </a:r>
          </a:p>
          <a:p>
            <a:pPr algn="l"/>
            <a:r>
              <a:rPr sz="1100" b="0" i="1">
                <a:solidFill>
                  <a:srgbClr val="8FA8C0"/>
                </a:solidFill>
                <a:latin typeface="Calibri"/>
              </a:rPr>
              <a:t>Spring Boot 3.3 · Java 21 · PostgreSQL 16 · Flyway · JWT (HS256) · Docker      |      Junio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86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01168"/>
            <a:ext cx="11338560" cy="7772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2200" b="1" i="0">
                <a:solidFill>
                  <a:srgbClr val="0F2B46"/>
                </a:solidFill>
                <a:latin typeface="Calibri"/>
              </a:rPr>
              <a:t>Secuencia — Completar tarea con verificación de logros</a:t>
            </a:r>
          </a:p>
          <a:p>
            <a:pPr algn="l"/>
            <a:r>
              <a:rPr sz="1150" b="0" i="0">
                <a:solidFill>
                  <a:srgbClr val="5A5A5A"/>
                </a:solidFill>
                <a:latin typeface="Calibri"/>
              </a:rPr>
              <a:t>PATCH /api/tasks/{id}/status  ·  flujo síncrono dentro de una transacción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65392"/>
            <a:ext cx="11338560" cy="256032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00" b="0" i="0">
                <a:solidFill>
                  <a:srgbClr val="9A9A9A"/>
                </a:solidFill>
                <a:latin typeface="Calibri"/>
              </a:rPr>
              <a:t>ECIWISE-TODO · Microservicio de tareas y planificación · Diagrama de secuencia · Junio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9456" y="1115568"/>
            <a:ext cx="1481328" cy="566928"/>
          </a:xfrm>
          <a:prstGeom prst="roundRect">
            <a:avLst/>
          </a:prstGeom>
          <a:solidFill>
            <a:srgbClr val="8A8A8A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SPA Angular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[Cliente]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33955" y="1115568"/>
            <a:ext cx="1481328" cy="566928"/>
          </a:xfrm>
          <a:prstGeom prst="roundRect">
            <a:avLst/>
          </a:prstGeom>
          <a:solidFill>
            <a:srgbClr val="08427B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JwtAuthentication
Filter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[config]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746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48456" y="1115568"/>
            <a:ext cx="1481328" cy="56692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TaskController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[task]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891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62956" y="1115568"/>
            <a:ext cx="1481328" cy="56692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TaskService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[task]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036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077456" y="1115568"/>
            <a:ext cx="1481328" cy="56692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CurrentUser
Service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[user]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181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91956" y="1115568"/>
            <a:ext cx="1481328" cy="566928"/>
          </a:xfrm>
          <a:prstGeom prst="roundRect">
            <a:avLst/>
          </a:prstGeom>
          <a:solidFill>
            <a:srgbClr val="1168BD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Achievement
Service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[task]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326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506456" y="1115568"/>
            <a:ext cx="1481328" cy="566928"/>
          </a:xfrm>
          <a:prstGeom prst="roundRect">
            <a:avLst/>
          </a:prstGeom>
          <a:solidFill>
            <a:srgbClr val="2E6EA6"/>
          </a:solidFill>
          <a:ln>
            <a:noFill/>
          </a:ln>
          <a:effectLst/>
          <a:effectLst>
            <a:outerShdw blurRad="50800" dist="25400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750" b="0" i="1">
                <a:solidFill>
                  <a:srgbClr val="E0E8F0"/>
                </a:solidFill>
                <a:latin typeface="Calibri"/>
              </a:rPr>
              <a:t>[Repositorios JPA]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247120" y="1682495"/>
            <a:ext cx="0" cy="4672585"/>
          </a:xfrm>
          <a:prstGeom prst="line">
            <a:avLst/>
          </a:prstGeom>
          <a:ln w="12700">
            <a:solidFill>
              <a:srgbClr val="B0B0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0120" y="1993392"/>
            <a:ext cx="1714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69848" y="1746504"/>
            <a:ext cx="1495043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PATCH /api/tasks/{id}/status  {"status":"DONE"}  +  Bearer JWT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674620" y="2302459"/>
            <a:ext cx="411480" cy="0"/>
          </a:xfrm>
          <a:prstGeom prst="line">
            <a:avLst/>
          </a:prstGeom>
          <a:ln w="15875">
            <a:solidFill>
              <a:srgbClr val="0F2B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86100" y="2302459"/>
            <a:ext cx="0" cy="146304"/>
          </a:xfrm>
          <a:prstGeom prst="line">
            <a:avLst/>
          </a:prstGeom>
          <a:ln w="15875">
            <a:solidFill>
              <a:srgbClr val="0F2B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2702051" y="2448763"/>
            <a:ext cx="384049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177539" y="2174443"/>
            <a:ext cx="310896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0">
                <a:solidFill>
                  <a:srgbClr val="0F2B46"/>
                </a:solidFill>
                <a:latin typeface="Calibri"/>
              </a:rPr>
              <a:t>isTokenValid() → claims → SecurityContext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674620" y="2611526"/>
            <a:ext cx="1714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84348" y="2364638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petición autenticada (AuthenticatedUser, rol)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89120" y="2920593"/>
            <a:ext cx="1714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498848" y="2673705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changeStatus(id, DONE)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103620" y="3229660"/>
            <a:ext cx="1714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213348" y="2982772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getOrCreate()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818120" y="3538728"/>
            <a:ext cx="34290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27848" y="3291840"/>
            <a:ext cx="32095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findByExternalId / save  (auto-provisión JIT)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6103620" y="3847795"/>
            <a:ext cx="1714500" cy="0"/>
          </a:xfrm>
          <a:prstGeom prst="line">
            <a:avLst/>
          </a:prstGeom>
          <a:ln w="12700">
            <a:solidFill>
              <a:srgbClr val="5A5A5A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213348" y="3600907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AppUser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103620" y="4156862"/>
            <a:ext cx="5143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13348" y="3909974"/>
            <a:ext cx="4924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findByIdAndOwner_Id · save(task: DONE, completedAt)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03620" y="4465929"/>
            <a:ext cx="5143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3348" y="4219041"/>
            <a:ext cx="4924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save(TaskCompletionHistory)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03620" y="4774996"/>
            <a:ext cx="34290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13348" y="4528108"/>
            <a:ext cx="32095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onTaskCompleted(user)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532620" y="5084064"/>
            <a:ext cx="1714500" cy="0"/>
          </a:xfrm>
          <a:prstGeom prst="line">
            <a:avLst/>
          </a:prstGeom>
          <a:ln w="15875">
            <a:solidFill>
              <a:srgbClr val="0F2B4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642348" y="4837176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0">
                <a:solidFill>
                  <a:srgbClr val="0F2B46"/>
                </a:solidFill>
                <a:latin typeface="Calibri"/>
              </a:rPr>
              <a:t>countByOwner_Id · si count % 5 == 0 → save(Achievement)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6103620" y="5393131"/>
            <a:ext cx="3429000" cy="0"/>
          </a:xfrm>
          <a:prstGeom prst="line">
            <a:avLst/>
          </a:prstGeom>
          <a:ln w="12700">
            <a:solidFill>
              <a:srgbClr val="5A5A5A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13348" y="5146243"/>
            <a:ext cx="32095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Optional&lt;Achievement&gt;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4389120" y="5702198"/>
            <a:ext cx="1714500" cy="0"/>
          </a:xfrm>
          <a:prstGeom prst="line">
            <a:avLst/>
          </a:prstGeom>
          <a:ln w="12700">
            <a:solidFill>
              <a:srgbClr val="5A5A5A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98848" y="5455310"/>
            <a:ext cx="14950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TaskMutationResponse (tarea + logros)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960120" y="6011265"/>
            <a:ext cx="3429000" cy="0"/>
          </a:xfrm>
          <a:prstGeom prst="line">
            <a:avLst/>
          </a:prstGeom>
          <a:ln w="12700">
            <a:solidFill>
              <a:srgbClr val="5A5A5A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069848" y="5764377"/>
            <a:ext cx="3209544" cy="237744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/>
            <a:r>
              <a:rPr sz="850" b="0" i="1">
                <a:solidFill>
                  <a:srgbClr val="5A5A5A"/>
                </a:solidFill>
                <a:latin typeface="Calibri"/>
              </a:rPr>
              <a:t>200 OK  {task, achievements[]}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24327" y="2256739"/>
            <a:ext cx="100584" cy="400507"/>
          </a:xfrm>
          <a:prstGeom prst="rect">
            <a:avLst/>
          </a:prstGeom>
          <a:solidFill>
            <a:srgbClr val="CFDFEF"/>
          </a:solidFill>
          <a:ln w="635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38828" y="2565806"/>
            <a:ext cx="100584" cy="3491179"/>
          </a:xfrm>
          <a:prstGeom prst="rect">
            <a:avLst/>
          </a:prstGeom>
          <a:solidFill>
            <a:srgbClr val="CFDFEF"/>
          </a:solidFill>
          <a:ln w="635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053328" y="2874873"/>
            <a:ext cx="100584" cy="2873044"/>
          </a:xfrm>
          <a:prstGeom prst="rect">
            <a:avLst/>
          </a:prstGeom>
          <a:solidFill>
            <a:srgbClr val="CFDFEF"/>
          </a:solidFill>
          <a:ln w="635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67828" y="3183940"/>
            <a:ext cx="100584" cy="709574"/>
          </a:xfrm>
          <a:prstGeom prst="rect">
            <a:avLst/>
          </a:prstGeom>
          <a:solidFill>
            <a:srgbClr val="CFDFEF"/>
          </a:solidFill>
          <a:ln w="635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482328" y="4729276"/>
            <a:ext cx="100584" cy="709574"/>
          </a:xfrm>
          <a:prstGeom prst="rect">
            <a:avLst/>
          </a:prstGeom>
          <a:solidFill>
            <a:srgbClr val="CFDFEF"/>
          </a:solidFill>
          <a:ln w="6350">
            <a:solidFill>
              <a:srgbClr val="8F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382512"/>
            <a:ext cx="11247120" cy="22860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850" b="0" i="1">
                <a:solidFill>
                  <a:srgbClr val="5A5A5A"/>
                </a:solidFill>
                <a:latin typeface="Calibri"/>
              </a:rPr>
              <a:t>Nota: si el token es inválido o falta, el filtro no puebla el contexto y SecurityConfig responde 401 antes de llegar al controlador. Todo el flujo es @Transactional.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