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70832"/>
            <a:ext cx="12191695" cy="5486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834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E86C1A"/>
                </a:solidFill>
                <a:latin typeface="Calibri"/>
              </a:rPr>
              <a:t>ECIWISE-TODO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Modelo C4 — Nivel 3: Componentes</a:t>
            </a:r>
          </a:p>
          <a:p>
            <a:pPr algn="l"/>
            <a:r>
              <a:rPr sz="1700" b="0" i="1">
                <a:solidFill>
                  <a:srgbClr val="BFD3E6"/>
                </a:solidFill>
                <a:latin typeface="Calibri"/>
              </a:rPr>
              <a:t>Estructura interna del contenedor API REST ECIWISE-TODO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515600" cy="1737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50" b="0" i="0">
                <a:solidFill>
                  <a:srgbClr val="D9E4EF"/>
                </a:solidFill>
                <a:latin typeface="Calibri"/>
              </a:rPr>
              <a:t>•  Cadena de seguridad JWT, controladores REST, servicios de dominio y repositorios JPA</a:t>
            </a:r>
          </a:p>
          <a:p>
            <a:pPr algn="l"/>
            <a:r>
              <a:rPr sz="1250" b="0" i="0">
                <a:solidFill>
                  <a:srgbClr val="D9E4EF"/>
                </a:solidFill>
                <a:latin typeface="Calibri"/>
              </a:rPr>
              <a:t>•  Manejo transversal de errores con GlobalExceptionHandler y auditoría JPA</a:t>
            </a:r>
          </a:p>
          <a:p>
            <a:pPr algn="l"/>
            <a:r>
              <a:rPr sz="1100" b="0" i="1">
                <a:solidFill>
                  <a:srgbClr val="8FA8C0"/>
                </a:solidFill>
                <a:latin typeface="Calibri"/>
              </a:rPr>
              <a:t>Spring Boot 3.3 · Java 21 · PostgreSQL 16 · Flyway · JWT (HS256) · Docker      |      Junio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200" b="1" i="0">
                <a:solidFill>
                  <a:srgbClr val="0F2B46"/>
                </a:solidFill>
                <a:latin typeface="Calibri"/>
              </a:rPr>
              <a:t>C4 · Nivel 3 — Diagrama de Componentes (API REST ECIWISE-TODO)</a:t>
            </a:r>
          </a:p>
          <a:p>
            <a:pPr algn="l"/>
            <a:r>
              <a:rPr sz="1150" b="0" i="0">
                <a:solidFill>
                  <a:srgbClr val="5A5A5A"/>
                </a:solidFill>
                <a:latin typeface="Calibri"/>
              </a:rPr>
              <a:t>Paquetes config · auth · task · user · exception dentro del contenedor Spring 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Calibri"/>
              </a:rPr>
              <a:t>ECIWISE-TODO · Microservicio de tareas y planificación · C4 Nivel 3 · Componentes · Junio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70432"/>
            <a:ext cx="9692640" cy="5285232"/>
          </a:xfrm>
          <a:prstGeom prst="roundRect">
            <a:avLst/>
          </a:prstGeom>
          <a:noFill/>
          <a:ln w="15875">
            <a:solidFill>
              <a:srgbClr val="5A5A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144768"/>
            <a:ext cx="502920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50" b="1" i="1">
                <a:solidFill>
                  <a:srgbClr val="5A5A5A"/>
                </a:solidFill>
                <a:latin typeface="Calibri"/>
              </a:rPr>
              <a:t>API REST ECIWISE-TODO  [Contenedor: Spring Boot]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82880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00" b="1" i="0">
                <a:solidFill>
                  <a:srgbClr val="5A5A5A"/>
                </a:solidFill>
                <a:latin typeface="Calibri"/>
              </a:rPr>
              <a:t>SEGURIDAD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828800" cy="960120"/>
          </a:xfrm>
          <a:prstGeom prst="roundRect">
            <a:avLst/>
          </a:prstGeom>
          <a:solidFill>
            <a:srgbClr val="85BBF0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JwtAuthenticationFilter</a:t>
            </a:r>
          </a:p>
          <a:p>
            <a:pPr algn="ctr"/>
            <a:r>
              <a:rPr sz="850" b="0" i="1">
                <a:solidFill>
                  <a:srgbClr val="333333"/>
                </a:solidFill>
                <a:latin typeface="Calibri"/>
              </a:rPr>
              <a:t>[Filtro]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Extrae y valida el Bearer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554480"/>
            <a:ext cx="1691640" cy="960120"/>
          </a:xfrm>
          <a:prstGeom prst="roundRect">
            <a:avLst/>
          </a:prstGeom>
          <a:solidFill>
            <a:srgbClr val="85BBF0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JwtService</a:t>
            </a:r>
          </a:p>
          <a:p>
            <a:pPr algn="ctr"/>
            <a:r>
              <a:rPr sz="850" b="0" i="1">
                <a:solidFill>
                  <a:srgbClr val="333333"/>
                </a:solidFill>
                <a:latin typeface="Calibri"/>
              </a:rPr>
              <a:t>[Componente]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Verifica firma HS256 y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554480"/>
            <a:ext cx="1783080" cy="960120"/>
          </a:xfrm>
          <a:prstGeom prst="roundRect">
            <a:avLst/>
          </a:prstGeom>
          <a:solidFill>
            <a:srgbClr val="85BBF0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SecurityConfig</a:t>
            </a:r>
          </a:p>
          <a:p>
            <a:pPr algn="ctr"/>
            <a:r>
              <a:rPr sz="850" b="0" i="1">
                <a:solidFill>
                  <a:srgbClr val="333333"/>
                </a:solidFill>
                <a:latin typeface="Calibri"/>
              </a:rPr>
              <a:t>[Configuración]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Cadena stateless, CORS y reglas de acceso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691640" cy="960120"/>
          </a:xfrm>
          <a:prstGeom prst="roundRect">
            <a:avLst/>
          </a:prstGeom>
          <a:solidFill>
            <a:srgbClr val="85BBF0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CurrentUserService</a:t>
            </a:r>
          </a:p>
          <a:p>
            <a:pPr algn="ctr"/>
            <a:r>
              <a:rPr sz="850" b="0" i="1">
                <a:solidFill>
                  <a:srgbClr val="333333"/>
                </a:solidFill>
                <a:latin typeface="Calibri"/>
              </a:rPr>
              <a:t>[Servicio]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Auto-provisión JIT del usuario del JWT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554480"/>
            <a:ext cx="1463040" cy="960120"/>
          </a:xfrm>
          <a:prstGeom prst="roundRect">
            <a:avLst/>
          </a:prstGeom>
          <a:solidFill>
            <a:srgbClr val="85BBF0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GlobalException-
Handler</a:t>
            </a:r>
          </a:p>
          <a:p>
            <a:pPr algn="ctr"/>
            <a:r>
              <a:rPr sz="850" b="0" i="1">
                <a:solidFill>
                  <a:srgbClr val="333333"/>
                </a:solidFill>
                <a:latin typeface="Calibri"/>
              </a:rPr>
              <a:t>[Advice]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Errores → JSON uniforme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237744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00" b="1" i="0">
                <a:solidFill>
                  <a:srgbClr val="5A5A5A"/>
                </a:solidFill>
                <a:latin typeface="Calibri"/>
              </a:rPr>
              <a:t>CAPA WEB (REST)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71800"/>
            <a:ext cx="1920240" cy="914400"/>
          </a:xfrm>
          <a:prstGeom prst="roundRect">
            <a:avLst/>
          </a:prstGeom>
          <a:solidFill>
            <a:srgbClr val="85BBF0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TaskController</a:t>
            </a:r>
          </a:p>
          <a:p>
            <a:pPr algn="ctr"/>
            <a:r>
              <a:rPr sz="850" b="0" i="1">
                <a:solidFill>
                  <a:srgbClr val="333333"/>
                </a:solidFill>
                <a:latin typeface="Calibri"/>
              </a:rPr>
              <a:t>[Controlador REST]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/api/tasks · CRUD, estado, agenda, búsqueda, subtareas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971800"/>
            <a:ext cx="1645920" cy="914400"/>
          </a:xfrm>
          <a:prstGeom prst="roundRect">
            <a:avLst/>
          </a:prstGeom>
          <a:solidFill>
            <a:srgbClr val="85BBF0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CategoryController</a:t>
            </a:r>
          </a:p>
          <a:p>
            <a:pPr algn="ctr"/>
            <a:r>
              <a:rPr sz="850" b="0" i="1">
                <a:solidFill>
                  <a:srgbClr val="333333"/>
                </a:solidFill>
                <a:latin typeface="Calibri"/>
              </a:rPr>
              <a:t>[Controlador REST]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/api/categories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971800"/>
            <a:ext cx="1645920" cy="914400"/>
          </a:xfrm>
          <a:prstGeom prst="roundRect">
            <a:avLst/>
          </a:prstGeom>
          <a:solidFill>
            <a:srgbClr val="85BBF0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TagController</a:t>
            </a:r>
          </a:p>
          <a:p>
            <a:pPr algn="ctr"/>
            <a:r>
              <a:rPr sz="850" b="0" i="1">
                <a:solidFill>
                  <a:srgbClr val="333333"/>
                </a:solidFill>
                <a:latin typeface="Calibri"/>
              </a:rPr>
              <a:t>[Controlador REST]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/api/tags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71800"/>
            <a:ext cx="1645920" cy="914400"/>
          </a:xfrm>
          <a:prstGeom prst="roundRect">
            <a:avLst/>
          </a:prstGeom>
          <a:solidFill>
            <a:srgbClr val="85BBF0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StatsController</a:t>
            </a:r>
          </a:p>
          <a:p>
            <a:pPr algn="ctr"/>
            <a:r>
              <a:rPr sz="850" b="0" i="1">
                <a:solidFill>
                  <a:srgbClr val="333333"/>
                </a:solidFill>
                <a:latin typeface="Calibri"/>
              </a:rPr>
              <a:t>[Controlador REST]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/api/stats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971800"/>
            <a:ext cx="1737360" cy="914400"/>
          </a:xfrm>
          <a:prstGeom prst="roundRect">
            <a:avLst/>
          </a:prstGeom>
          <a:solidFill>
            <a:srgbClr val="85BBF0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AchievementController</a:t>
            </a:r>
          </a:p>
          <a:p>
            <a:pPr algn="ctr"/>
            <a:r>
              <a:rPr sz="850" b="0" i="1">
                <a:solidFill>
                  <a:srgbClr val="333333"/>
                </a:solidFill>
                <a:latin typeface="Calibri"/>
              </a:rPr>
              <a:t>[Controlador REST]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/api/achievements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41648"/>
            <a:ext cx="237744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00" b="1" i="0">
                <a:solidFill>
                  <a:srgbClr val="5A5A5A"/>
                </a:solidFill>
                <a:latin typeface="Calibri"/>
              </a:rPr>
              <a:t>CAPA DE SERVICIOS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15968"/>
            <a:ext cx="2240280" cy="914400"/>
          </a:xfrm>
          <a:prstGeom prst="roundRect">
            <a:avLst/>
          </a:prstGeom>
          <a:solidFill>
            <a:srgbClr val="85BBF0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TaskService</a:t>
            </a:r>
          </a:p>
          <a:p>
            <a:pPr algn="ctr"/>
            <a:r>
              <a:rPr sz="850" b="0" i="1">
                <a:solidFill>
                  <a:srgbClr val="333333"/>
                </a:solidFill>
                <a:latin typeface="Calibri"/>
              </a:rPr>
              <a:t>[Servicio]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Negocio de tareas, RecurrenceExpander y TaskMapper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81528" y="4315968"/>
            <a:ext cx="1600200" cy="914400"/>
          </a:xfrm>
          <a:prstGeom prst="roundRect">
            <a:avLst/>
          </a:prstGeom>
          <a:solidFill>
            <a:srgbClr val="85BBF0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CategoryService</a:t>
            </a:r>
          </a:p>
          <a:p>
            <a:pPr algn="ctr"/>
            <a:r>
              <a:rPr sz="850" b="0" i="1">
                <a:solidFill>
                  <a:srgbClr val="333333"/>
                </a:solidFill>
                <a:latin typeface="Calibri"/>
              </a:rPr>
              <a:t>[Servicio]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Categorías del usuario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82896" y="4315968"/>
            <a:ext cx="1325880" cy="914400"/>
          </a:xfrm>
          <a:prstGeom prst="roundRect">
            <a:avLst/>
          </a:prstGeom>
          <a:solidFill>
            <a:srgbClr val="85BBF0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TagService</a:t>
            </a:r>
          </a:p>
          <a:p>
            <a:pPr algn="ctr"/>
            <a:r>
              <a:rPr sz="850" b="0" i="1">
                <a:solidFill>
                  <a:srgbClr val="333333"/>
                </a:solidFill>
                <a:latin typeface="Calibri"/>
              </a:rPr>
              <a:t>[Servicio]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Etiquetas M:N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9944" y="4315968"/>
            <a:ext cx="1371600" cy="914400"/>
          </a:xfrm>
          <a:prstGeom prst="roundRect">
            <a:avLst/>
          </a:prstGeom>
          <a:solidFill>
            <a:srgbClr val="85BBF0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StatsService</a:t>
            </a:r>
          </a:p>
          <a:p>
            <a:pPr algn="ctr"/>
            <a:r>
              <a:rPr sz="850" b="0" i="1">
                <a:solidFill>
                  <a:srgbClr val="333333"/>
                </a:solidFill>
                <a:latin typeface="Calibri"/>
              </a:rPr>
              <a:t>[Servicio]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Métricas y rachas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2712" y="4315968"/>
            <a:ext cx="2011680" cy="914400"/>
          </a:xfrm>
          <a:prstGeom prst="roundRect">
            <a:avLst/>
          </a:prstGeom>
          <a:solidFill>
            <a:srgbClr val="85BBF0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AchievementService</a:t>
            </a:r>
          </a:p>
          <a:p>
            <a:pPr algn="ctr"/>
            <a:r>
              <a:rPr sz="850" b="0" i="1">
                <a:solidFill>
                  <a:srgbClr val="333333"/>
                </a:solidFill>
                <a:latin typeface="Calibri"/>
              </a:rPr>
              <a:t>[Servicio]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Hito cada 5 completadas / planificadas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40680"/>
            <a:ext cx="8823960" cy="777240"/>
          </a:xfrm>
          <a:prstGeom prst="roundRect">
            <a:avLst/>
          </a:prstGeom>
          <a:solidFill>
            <a:srgbClr val="438DD5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Repositorios Spring Data JPA  —  TaskRepository (Specifications) · SubtaskRepository · TaskCategoryRepository · TagRepository · AchievementRepository · TaskCompletionHistoryRepository · AppUserRepository</a:t>
            </a:r>
          </a:p>
          <a:p>
            <a:pPr algn="ctr"/>
            <a:r>
              <a:rPr sz="850" b="0" i="1">
                <a:solidFill>
                  <a:srgbClr val="DDE9F5"/>
                </a:solidFill>
                <a:latin typeface="Calibri"/>
              </a:rPr>
              <a:t>[Capa de persistencia · Hibernate + JPA Auditing]</a:t>
            </a:r>
          </a:p>
          <a:p>
            <a:pPr algn="ctr"/>
            <a:r>
              <a:rPr sz="900" b="0" i="0">
                <a:solidFill>
                  <a:srgbClr val="EFF4FA"/>
                </a:solidFill>
                <a:latin typeface="Calibri"/>
              </a:rPr>
              <a:t/>
            </a:r>
          </a:p>
        </p:txBody>
      </p:sp>
      <p:sp>
        <p:nvSpPr>
          <p:cNvPr id="26" name="Can 25"/>
          <p:cNvSpPr/>
          <p:nvPr/>
        </p:nvSpPr>
        <p:spPr>
          <a:xfrm>
            <a:off x="10378440" y="4206240"/>
            <a:ext cx="1600200" cy="1920240"/>
          </a:xfrm>
          <a:prstGeom prst="can">
            <a:avLst/>
          </a:prstGeom>
          <a:solidFill>
            <a:srgbClr val="2E6EA6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pPr algn="ctr"/>
            <a:r>
              <a:rPr sz="800" b="0" i="1">
                <a:solidFill>
                  <a:srgbClr val="DDE9F5"/>
                </a:solidFill>
                <a:latin typeface="Calibri"/>
              </a:rPr>
              <a:t>[Contenedor: BD]</a:t>
            </a:r>
          </a:p>
          <a:p>
            <a:pPr algn="ctr"/>
            <a:r>
              <a:rPr sz="850" b="0" i="0">
                <a:solidFill>
                  <a:srgbClr val="EFF4FA"/>
                </a:solidFill>
                <a:latin typeface="Calibri"/>
              </a:rPr>
              <a:t>Esquema versionado con Flyway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78440" y="1554480"/>
            <a:ext cx="1600200" cy="1371600"/>
          </a:xfrm>
          <a:prstGeom prst="roundRect">
            <a:avLst/>
          </a:prstGeom>
          <a:solidFill>
            <a:srgbClr val="8A8A8A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SPA Angular</a:t>
            </a:r>
          </a:p>
          <a:p>
            <a:pPr algn="ctr"/>
            <a:r>
              <a:rPr sz="850" b="0" i="1">
                <a:solidFill>
                  <a:srgbClr val="DDE9F5"/>
                </a:solidFill>
                <a:latin typeface="Calibri"/>
              </a:rPr>
              <a:t>[Contenedor]</a:t>
            </a:r>
          </a:p>
          <a:p>
            <a:pPr algn="ctr"/>
            <a:r>
              <a:rPr sz="900" b="0" i="0">
                <a:solidFill>
                  <a:srgbClr val="EFF4FA"/>
                </a:solidFill>
                <a:latin typeface="Calibri"/>
              </a:rPr>
              <a:t>Peticiones JSON con Bearer JWT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8321040" y="2011680"/>
            <a:ext cx="2057400" cy="228600"/>
          </a:xfrm>
          <a:prstGeom prst="line">
            <a:avLst/>
          </a:prstGeom>
          <a:ln w="19050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95360" y="1207008"/>
            <a:ext cx="237744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00" b="0" i="1">
                <a:solidFill>
                  <a:srgbClr val="5A5A5A"/>
                </a:solidFill>
                <a:latin typeface="Calibri"/>
              </a:rPr>
              <a:t>HTTP + Bearer JWT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554480" y="2514600"/>
            <a:ext cx="0" cy="457200"/>
          </a:xfrm>
          <a:prstGeom prst="line">
            <a:avLst/>
          </a:prstGeom>
          <a:ln w="19050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468880" y="2029968"/>
            <a:ext cx="228600" cy="0"/>
          </a:xfrm>
          <a:prstGeom prst="line">
            <a:avLst/>
          </a:prstGeom>
          <a:ln w="19050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600200" y="3886200"/>
            <a:ext cx="0" cy="429768"/>
          </a:xfrm>
          <a:prstGeom prst="line">
            <a:avLst/>
          </a:prstGeom>
          <a:ln w="19050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566160" y="3886200"/>
            <a:ext cx="0" cy="429768"/>
          </a:xfrm>
          <a:prstGeom prst="line">
            <a:avLst/>
          </a:prstGeom>
          <a:ln w="19050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394960" y="3886200"/>
            <a:ext cx="0" cy="429768"/>
          </a:xfrm>
          <a:prstGeom prst="line">
            <a:avLst/>
          </a:prstGeom>
          <a:ln w="19050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23760" y="3886200"/>
            <a:ext cx="0" cy="429768"/>
          </a:xfrm>
          <a:prstGeom prst="line">
            <a:avLst/>
          </a:prstGeom>
          <a:ln w="19050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098280" y="3886200"/>
            <a:ext cx="0" cy="429768"/>
          </a:xfrm>
          <a:prstGeom prst="line">
            <a:avLst/>
          </a:prstGeom>
          <a:ln w="19050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029200" y="5230368"/>
            <a:ext cx="0" cy="210312"/>
          </a:xfrm>
          <a:prstGeom prst="line">
            <a:avLst/>
          </a:prstGeom>
          <a:ln w="19050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452360" y="2514600"/>
            <a:ext cx="0" cy="1691640"/>
          </a:xfrm>
          <a:prstGeom prst="line">
            <a:avLst/>
          </a:prstGeom>
          <a:ln w="19050">
            <a:solidFill>
              <a:srgbClr val="707070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464040" y="5486400"/>
            <a:ext cx="914400" cy="320040"/>
          </a:xfrm>
          <a:prstGeom prst="line">
            <a:avLst/>
          </a:prstGeom>
          <a:ln w="19050">
            <a:solidFill>
              <a:srgbClr val="70707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418320" y="5897880"/>
            <a:ext cx="146304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00" b="0" i="1">
                <a:solidFill>
                  <a:srgbClr val="5A5A5A"/>
                </a:solidFill>
                <a:latin typeface="Calibri"/>
              </a:rPr>
              <a:t>JDBC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