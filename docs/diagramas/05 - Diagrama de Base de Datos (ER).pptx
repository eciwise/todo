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370832"/>
            <a:ext cx="12191695" cy="54864"/>
          </a:xfrm>
          <a:prstGeom prst="rect">
            <a:avLst/>
          </a:prstGeom>
          <a:solidFill>
            <a:srgbClr val="E86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515600" cy="283464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1600" b="1" i="0">
                <a:solidFill>
                  <a:srgbClr val="E86C1A"/>
                </a:solidFill>
                <a:latin typeface="Calibri"/>
              </a:rPr>
              <a:t>ECIWISE-TODO</a:t>
            </a:r>
          </a:p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Modelo de Base de Datos</a:t>
            </a:r>
          </a:p>
          <a:p>
            <a:pPr algn="l"/>
            <a:r>
              <a:rPr sz="1700" b="0" i="1">
                <a:solidFill>
                  <a:srgbClr val="BFD3E6"/>
                </a:solidFill>
                <a:latin typeface="Calibri"/>
              </a:rPr>
              <a:t>Diagrama entidad–relación del esquema eciwise_todo (PostgreSQL 16)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663440"/>
            <a:ext cx="10515600" cy="173736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1250" b="0" i="0">
                <a:solidFill>
                  <a:srgbClr val="D9E4EF"/>
                </a:solidFill>
                <a:latin typeface="Calibri"/>
              </a:rPr>
              <a:t>•  8 tablas versionadas con Flyway: V1 usuarios/categorías/tareas · V2 subtareas/etiquetas · V3 logros/historial</a:t>
            </a:r>
          </a:p>
          <a:p>
            <a:pPr algn="l"/>
            <a:r>
              <a:rPr sz="1250" b="0" i="0">
                <a:solidFill>
                  <a:srgbClr val="D9E4EF"/>
                </a:solidFill>
                <a:latin typeface="Calibri"/>
              </a:rPr>
              <a:t>•  Borrado en cascada por propietario; historial de completadas sobrevive al borrado de la tarea</a:t>
            </a:r>
          </a:p>
          <a:p>
            <a:pPr algn="l"/>
            <a:r>
              <a:rPr sz="1250" b="0" i="0">
                <a:solidFill>
                  <a:srgbClr val="D9E4EF"/>
                </a:solidFill>
                <a:latin typeface="Calibri"/>
              </a:rPr>
              <a:t>•  Índices por propietario + fecha, estado e importancia para las consultas de agenda</a:t>
            </a:r>
          </a:p>
          <a:p>
            <a:pPr algn="l"/>
            <a:r>
              <a:rPr sz="1100" b="0" i="1">
                <a:solidFill>
                  <a:srgbClr val="8FA8C0"/>
                </a:solidFill>
                <a:latin typeface="Calibri"/>
              </a:rPr>
              <a:t>Spring Boot 3.3 · Java 21 · PostgreSQL 16 · Flyway · JWT (HS256) · Docker      |      Junio de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E86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01168"/>
            <a:ext cx="11338560" cy="77724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2200" b="1" i="0">
                <a:solidFill>
                  <a:srgbClr val="0F2B46"/>
                </a:solidFill>
                <a:latin typeface="Calibri"/>
              </a:rPr>
              <a:t>Diagrama Entidad–Relación — esquema eciwise_todo</a:t>
            </a:r>
          </a:p>
          <a:p>
            <a:pPr algn="l"/>
            <a:r>
              <a:rPr sz="1150" b="0" i="0">
                <a:solidFill>
                  <a:srgbClr val="5A5A5A"/>
                </a:solidFill>
                <a:latin typeface="Calibri"/>
              </a:rPr>
              <a:t>PostgreSQL 16 · migraciones Flyway V1–V3 · PK/FK/UQ resaltadas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565392"/>
            <a:ext cx="11338560" cy="256032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/>
            <a:r>
              <a:rPr sz="800" b="0" i="0">
                <a:solidFill>
                  <a:srgbClr val="9A9A9A"/>
                </a:solidFill>
                <a:latin typeface="Calibri"/>
              </a:rPr>
              <a:t>ECIWISE-TODO · Microservicio de tareas y planificación · Modelo de base de datos · Junio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43000"/>
            <a:ext cx="2377440" cy="310896"/>
          </a:xfrm>
          <a:prstGeom prst="rect">
            <a:avLst/>
          </a:prstGeom>
          <a:solidFill>
            <a:srgbClr val="0F2B46"/>
          </a:solidFill>
          <a:ln>
            <a:noFill/>
          </a:ln>
          <a:effectLst/>
          <a:effectLst>
            <a:outerShdw blurRad="50800" dist="25400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achievements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53896"/>
            <a:ext cx="237744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B5B5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27432" bIns="27432"/>
          <a:lstStyle/>
          <a:p>
            <a:pPr algn="l"/>
            <a:r>
              <a:rPr sz="800" b="1" i="0">
                <a:solidFill>
                  <a:srgbClr val="2E6EA6"/>
                </a:solidFill>
                <a:latin typeface="Calibri"/>
              </a:rPr>
              <a:t>PK  id  BIGSERIAL</a:t>
            </a:r>
          </a:p>
          <a:p>
            <a:pPr algn="l"/>
            <a:r>
              <a:rPr sz="800" b="1" i="0">
                <a:solidFill>
                  <a:srgbClr val="2E6EA6"/>
                </a:solidFill>
                <a:latin typeface="Calibri"/>
              </a:rPr>
              <a:t>FK  owner_id → app_users  (CASCADE)</a:t>
            </a:r>
          </a:p>
          <a:p>
            <a:pPr algn="l"/>
            <a:r>
              <a:rPr sz="800" b="0" i="0">
                <a:solidFill>
                  <a:srgbClr val="1A1A1A"/>
                </a:solidFill>
                <a:latin typeface="Calibri"/>
              </a:rPr>
              <a:t>type  VARCHAR(30)   [COMPLETED|PLANNED]</a:t>
            </a:r>
          </a:p>
          <a:p>
            <a:pPr algn="l"/>
            <a:r>
              <a:rPr sz="800" b="0" i="0">
                <a:solidFill>
                  <a:srgbClr val="1A1A1A"/>
                </a:solidFill>
                <a:latin typeface="Calibri"/>
              </a:rPr>
              <a:t>milestone  INTEGER</a:t>
            </a:r>
          </a:p>
          <a:p>
            <a:pPr algn="l"/>
            <a:r>
              <a:rPr sz="800" b="0" i="0">
                <a:solidFill>
                  <a:srgbClr val="1A1A1A"/>
                </a:solidFill>
                <a:latin typeface="Calibri"/>
              </a:rPr>
              <a:t>awarded_at  TIMESTAMP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2743200"/>
            <a:ext cx="2377440" cy="310896"/>
          </a:xfrm>
          <a:prstGeom prst="rect">
            <a:avLst/>
          </a:prstGeom>
          <a:solidFill>
            <a:srgbClr val="0F2B46"/>
          </a:solidFill>
          <a:ln>
            <a:noFill/>
          </a:ln>
          <a:effectLst/>
          <a:effectLst>
            <a:outerShdw blurRad="50800" dist="25400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app_users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3054096"/>
            <a:ext cx="237744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B5B5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27432" bIns="27432"/>
          <a:lstStyle/>
          <a:p>
            <a:pPr algn="l"/>
            <a:r>
              <a:rPr sz="800" b="1" i="0">
                <a:solidFill>
                  <a:srgbClr val="2E6EA6"/>
                </a:solidFill>
                <a:latin typeface="Calibri"/>
              </a:rPr>
              <a:t>PK  id  BIGSERIAL</a:t>
            </a:r>
          </a:p>
          <a:p>
            <a:pPr algn="l"/>
            <a:r>
              <a:rPr sz="800" b="1" i="0">
                <a:solidFill>
                  <a:srgbClr val="2E6EA6"/>
                </a:solidFill>
                <a:latin typeface="Calibri"/>
              </a:rPr>
              <a:t>UQ  external_id  VARCHAR(255)</a:t>
            </a:r>
          </a:p>
          <a:p>
            <a:pPr algn="l"/>
            <a:r>
              <a:rPr sz="800" b="0" i="0">
                <a:solidFill>
                  <a:srgbClr val="1A1A1A"/>
                </a:solidFill>
                <a:latin typeface="Calibri"/>
              </a:rPr>
              <a:t>email · first_name · last_name</a:t>
            </a:r>
          </a:p>
          <a:p>
            <a:pPr algn="l"/>
            <a:r>
              <a:rPr sz="800" b="0" i="0">
                <a:solidFill>
                  <a:srgbClr val="1A1A1A"/>
                </a:solidFill>
                <a:latin typeface="Calibri"/>
              </a:rPr>
              <a:t>role  VARCHAR(50)</a:t>
            </a:r>
          </a:p>
          <a:p>
            <a:pPr algn="l"/>
            <a:r>
              <a:rPr sz="800" b="0" i="0">
                <a:solidFill>
                  <a:srgbClr val="1A1A1A"/>
                </a:solidFill>
                <a:latin typeface="Calibri"/>
              </a:rPr>
              <a:t>created_at · updated_at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4983480"/>
            <a:ext cx="2697480" cy="310896"/>
          </a:xfrm>
          <a:prstGeom prst="rect">
            <a:avLst/>
          </a:prstGeom>
          <a:solidFill>
            <a:srgbClr val="0F2B46"/>
          </a:solidFill>
          <a:ln>
            <a:noFill/>
          </a:ln>
          <a:effectLst/>
          <a:effectLst>
            <a:outerShdw blurRad="50800" dist="25400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task_completion_history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5294376"/>
            <a:ext cx="2697480" cy="976579"/>
          </a:xfrm>
          <a:prstGeom prst="rect">
            <a:avLst/>
          </a:prstGeom>
          <a:solidFill>
            <a:srgbClr val="FFFFFF"/>
          </a:solidFill>
          <a:ln w="9525">
            <a:solidFill>
              <a:srgbClr val="B5B5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27432" bIns="27432"/>
          <a:lstStyle/>
          <a:p>
            <a:pPr algn="l"/>
            <a:r>
              <a:rPr sz="800" b="1" i="0">
                <a:solidFill>
                  <a:srgbClr val="2E6EA6"/>
                </a:solidFill>
                <a:latin typeface="Calibri"/>
              </a:rPr>
              <a:t>PK  id  BIGSERIAL</a:t>
            </a:r>
          </a:p>
          <a:p>
            <a:pPr algn="l"/>
            <a:r>
              <a:rPr sz="800" b="1" i="0">
                <a:solidFill>
                  <a:srgbClr val="2E6EA6"/>
                </a:solidFill>
                <a:latin typeface="Calibri"/>
              </a:rPr>
              <a:t>FK  owner_id → app_users  (CASCADE)</a:t>
            </a:r>
          </a:p>
          <a:p>
            <a:pPr algn="l"/>
            <a:r>
              <a:rPr sz="800" b="1" i="0">
                <a:solidFill>
                  <a:srgbClr val="2E6EA6"/>
                </a:solidFill>
                <a:latin typeface="Calibri"/>
              </a:rPr>
              <a:t>FK  task_id → tasks  (SET NULL)</a:t>
            </a:r>
          </a:p>
          <a:p>
            <a:pPr algn="l"/>
            <a:r>
              <a:rPr sz="800" b="0" i="0">
                <a:solidFill>
                  <a:srgbClr val="1A1A1A"/>
                </a:solidFill>
                <a:latin typeface="Calibri"/>
              </a:rPr>
              <a:t>title  VARCHAR(255)</a:t>
            </a:r>
          </a:p>
          <a:p>
            <a:pPr algn="l"/>
            <a:r>
              <a:rPr sz="800" b="0" i="0">
                <a:solidFill>
                  <a:srgbClr val="1A1A1A"/>
                </a:solidFill>
                <a:latin typeface="Calibri"/>
              </a:rPr>
              <a:t>importance  VARCHAR(20)</a:t>
            </a:r>
          </a:p>
          <a:p>
            <a:pPr algn="l"/>
            <a:r>
              <a:rPr sz="800" b="0" i="0">
                <a:solidFill>
                  <a:srgbClr val="1A1A1A"/>
                </a:solidFill>
                <a:latin typeface="Calibri"/>
              </a:rPr>
              <a:t>completed_at  TIMESTAMP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34840" y="1143000"/>
            <a:ext cx="2468880" cy="310896"/>
          </a:xfrm>
          <a:prstGeom prst="rect">
            <a:avLst/>
          </a:prstGeom>
          <a:solidFill>
            <a:srgbClr val="0F2B46"/>
          </a:solidFill>
          <a:ln>
            <a:noFill/>
          </a:ln>
          <a:effectLst/>
          <a:effectLst>
            <a:outerShdw blurRad="50800" dist="25400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task_categories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34840" y="1453896"/>
            <a:ext cx="246888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B5B5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27432" bIns="27432"/>
          <a:lstStyle/>
          <a:p>
            <a:pPr algn="l"/>
            <a:r>
              <a:rPr sz="800" b="1" i="0">
                <a:solidFill>
                  <a:srgbClr val="2E6EA6"/>
                </a:solidFill>
                <a:latin typeface="Calibri"/>
              </a:rPr>
              <a:t>PK  id  BIGSERIAL</a:t>
            </a:r>
          </a:p>
          <a:p>
            <a:pPr algn="l"/>
            <a:r>
              <a:rPr sz="800" b="1" i="0">
                <a:solidFill>
                  <a:srgbClr val="2E6EA6"/>
                </a:solidFill>
                <a:latin typeface="Calibri"/>
              </a:rPr>
              <a:t>FK  owner_id → app_users  (CASCADE)</a:t>
            </a:r>
          </a:p>
          <a:p>
            <a:pPr algn="l"/>
            <a:r>
              <a:rPr sz="800" b="0" i="0">
                <a:solidFill>
                  <a:srgbClr val="1A1A1A"/>
                </a:solidFill>
                <a:latin typeface="Calibri"/>
              </a:rPr>
              <a:t>name  VARCHAR(255)</a:t>
            </a:r>
          </a:p>
          <a:p>
            <a:pPr algn="l"/>
            <a:r>
              <a:rPr sz="800" b="0" i="0">
                <a:solidFill>
                  <a:srgbClr val="1A1A1A"/>
                </a:solidFill>
                <a:latin typeface="Calibri"/>
              </a:rPr>
              <a:t>color  VARCHAR(16)</a:t>
            </a:r>
          </a:p>
          <a:p>
            <a:pPr algn="l"/>
            <a:r>
              <a:rPr sz="800" b="0" i="0">
                <a:solidFill>
                  <a:srgbClr val="1A1A1A"/>
                </a:solidFill>
                <a:latin typeface="Calibri"/>
              </a:rPr>
              <a:t>created_at · updated_at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34840" y="2743200"/>
            <a:ext cx="2788920" cy="310896"/>
          </a:xfrm>
          <a:prstGeom prst="rect">
            <a:avLst/>
          </a:prstGeom>
          <a:solidFill>
            <a:srgbClr val="0F2B46"/>
          </a:solidFill>
          <a:ln>
            <a:noFill/>
          </a:ln>
          <a:effectLst/>
          <a:effectLst>
            <a:outerShdw blurRad="50800" dist="25400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tasks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34840" y="3054096"/>
            <a:ext cx="2788920" cy="2051913"/>
          </a:xfrm>
          <a:prstGeom prst="rect">
            <a:avLst/>
          </a:prstGeom>
          <a:solidFill>
            <a:srgbClr val="FFFFFF"/>
          </a:solidFill>
          <a:ln w="9525">
            <a:solidFill>
              <a:srgbClr val="B5B5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27432" bIns="27432"/>
          <a:lstStyle/>
          <a:p>
            <a:pPr algn="l"/>
            <a:r>
              <a:rPr sz="800" b="1" i="0">
                <a:solidFill>
                  <a:srgbClr val="2E6EA6"/>
                </a:solidFill>
                <a:latin typeface="Calibri"/>
              </a:rPr>
              <a:t>PK  id  BIGSERIAL</a:t>
            </a:r>
          </a:p>
          <a:p>
            <a:pPr algn="l"/>
            <a:r>
              <a:rPr sz="800" b="1" i="0">
                <a:solidFill>
                  <a:srgbClr val="2E6EA6"/>
                </a:solidFill>
                <a:latin typeface="Calibri"/>
              </a:rPr>
              <a:t>FK  owner_id → app_users  (CASCADE)</a:t>
            </a:r>
          </a:p>
          <a:p>
            <a:pPr algn="l"/>
            <a:r>
              <a:rPr sz="800" b="1" i="0">
                <a:solidFill>
                  <a:srgbClr val="2E6EA6"/>
                </a:solidFill>
                <a:latin typeface="Calibri"/>
              </a:rPr>
              <a:t>FK  category_id → task_categories  (SET NULL)</a:t>
            </a:r>
          </a:p>
          <a:p>
            <a:pPr algn="l"/>
            <a:r>
              <a:rPr sz="800" b="0" i="0">
                <a:solidFill>
                  <a:srgbClr val="1A1A1A"/>
                </a:solidFill>
                <a:latin typeface="Calibri"/>
              </a:rPr>
              <a:t>title · description · notes</a:t>
            </a:r>
          </a:p>
          <a:p>
            <a:pPr algn="l"/>
            <a:r>
              <a:rPr sz="800" b="0" i="0">
                <a:solidFill>
                  <a:srgbClr val="1A1A1A"/>
                </a:solidFill>
                <a:latin typeface="Calibri"/>
              </a:rPr>
              <a:t>status  [TODO|IN_PROGRESS|DONE]</a:t>
            </a:r>
          </a:p>
          <a:p>
            <a:pPr algn="l"/>
            <a:r>
              <a:rPr sz="800" b="0" i="0">
                <a:solidFill>
                  <a:srgbClr val="1A1A1A"/>
                </a:solidFill>
                <a:latin typeface="Calibri"/>
              </a:rPr>
              <a:t>importance  [LOW|MEDIUM|HIGH]</a:t>
            </a:r>
          </a:p>
          <a:p>
            <a:pPr algn="l"/>
            <a:r>
              <a:rPr sz="800" b="0" i="0">
                <a:solidFill>
                  <a:srgbClr val="1A1A1A"/>
                </a:solidFill>
                <a:latin typeface="Calibri"/>
              </a:rPr>
              <a:t>scheduled_date · start_time · end_time</a:t>
            </a:r>
          </a:p>
          <a:p>
            <a:pPr algn="l"/>
            <a:r>
              <a:rPr sz="800" b="0" i="0">
                <a:solidFill>
                  <a:srgbClr val="1A1A1A"/>
                </a:solidFill>
                <a:latin typeface="Calibri"/>
              </a:rPr>
              <a:t>color · day_order</a:t>
            </a:r>
          </a:p>
          <a:p>
            <a:pPr algn="l"/>
            <a:r>
              <a:rPr sz="800" b="0" i="0">
                <a:solidFill>
                  <a:srgbClr val="1A1A1A"/>
                </a:solidFill>
                <a:latin typeface="Calibri"/>
              </a:rPr>
              <a:t>recurrence_freq / interval / end_type</a:t>
            </a:r>
          </a:p>
          <a:p>
            <a:pPr algn="l"/>
            <a:r>
              <a:rPr sz="800" b="0" i="0">
                <a:solidFill>
                  <a:srgbClr val="1A1A1A"/>
                </a:solidFill>
                <a:latin typeface="Calibri"/>
              </a:rPr>
              <a:t>recurrence_end_date / count</a:t>
            </a:r>
          </a:p>
          <a:p>
            <a:pPr algn="l"/>
            <a:r>
              <a:rPr sz="800" b="0" i="0">
                <a:solidFill>
                  <a:srgbClr val="1A1A1A"/>
                </a:solidFill>
                <a:latin typeface="Calibri"/>
              </a:rPr>
              <a:t>completed_at</a:t>
            </a:r>
          </a:p>
          <a:p>
            <a:pPr algn="l"/>
            <a:r>
              <a:rPr sz="800" b="0" i="0">
                <a:solidFill>
                  <a:srgbClr val="1A1A1A"/>
                </a:solidFill>
                <a:latin typeface="Calibri"/>
              </a:rPr>
              <a:t>planned_notified · completed_notified</a:t>
            </a:r>
          </a:p>
          <a:p>
            <a:pPr algn="l"/>
            <a:r>
              <a:rPr sz="800" b="0" i="0">
                <a:solidFill>
                  <a:srgbClr val="1A1A1A"/>
                </a:solidFill>
                <a:latin typeface="Calibri"/>
              </a:rPr>
              <a:t>created_at · updated_at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006840" y="1143000"/>
            <a:ext cx="2377440" cy="310896"/>
          </a:xfrm>
          <a:prstGeom prst="rect">
            <a:avLst/>
          </a:prstGeom>
          <a:solidFill>
            <a:srgbClr val="0F2B46"/>
          </a:solidFill>
          <a:ln>
            <a:noFill/>
          </a:ln>
          <a:effectLst/>
          <a:effectLst>
            <a:outerShdw blurRad="50800" dist="25400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subtasks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006840" y="1453896"/>
            <a:ext cx="237744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B5B5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27432" bIns="27432"/>
          <a:lstStyle/>
          <a:p>
            <a:pPr algn="l"/>
            <a:r>
              <a:rPr sz="800" b="1" i="0">
                <a:solidFill>
                  <a:srgbClr val="2E6EA6"/>
                </a:solidFill>
                <a:latin typeface="Calibri"/>
              </a:rPr>
              <a:t>PK  id  BIGSERIAL</a:t>
            </a:r>
          </a:p>
          <a:p>
            <a:pPr algn="l"/>
            <a:r>
              <a:rPr sz="800" b="1" i="0">
                <a:solidFill>
                  <a:srgbClr val="2E6EA6"/>
                </a:solidFill>
                <a:latin typeface="Calibri"/>
              </a:rPr>
              <a:t>FK  task_id → tasks  (CASCADE)</a:t>
            </a:r>
          </a:p>
          <a:p>
            <a:pPr algn="l"/>
            <a:r>
              <a:rPr sz="800" b="0" i="0">
                <a:solidFill>
                  <a:srgbClr val="1A1A1A"/>
                </a:solidFill>
                <a:latin typeface="Calibri"/>
              </a:rPr>
              <a:t>title  VARCHAR(255)</a:t>
            </a:r>
          </a:p>
          <a:p>
            <a:pPr algn="l"/>
            <a:r>
              <a:rPr sz="800" b="0" i="0">
                <a:solidFill>
                  <a:srgbClr val="1A1A1A"/>
                </a:solidFill>
                <a:latin typeface="Calibri"/>
              </a:rPr>
              <a:t>done  BOOLEAN</a:t>
            </a:r>
          </a:p>
          <a:p>
            <a:pPr algn="l"/>
            <a:r>
              <a:rPr sz="800" b="0" i="0">
                <a:solidFill>
                  <a:srgbClr val="1A1A1A"/>
                </a:solidFill>
                <a:latin typeface="Calibri"/>
              </a:rPr>
              <a:t>position  INTEGER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006840" y="3063240"/>
            <a:ext cx="2377440" cy="310896"/>
          </a:xfrm>
          <a:prstGeom prst="rect">
            <a:avLst/>
          </a:prstGeom>
          <a:solidFill>
            <a:srgbClr val="0F2B46"/>
          </a:solidFill>
          <a:ln>
            <a:noFill/>
          </a:ln>
          <a:effectLst/>
          <a:effectLst>
            <a:outerShdw blurRad="50800" dist="25400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tags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06840" y="3374136"/>
            <a:ext cx="237744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B5B5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27432" bIns="27432"/>
          <a:lstStyle/>
          <a:p>
            <a:pPr algn="l"/>
            <a:r>
              <a:rPr sz="800" b="1" i="0">
                <a:solidFill>
                  <a:srgbClr val="2E6EA6"/>
                </a:solidFill>
                <a:latin typeface="Calibri"/>
              </a:rPr>
              <a:t>PK  id  BIGSERIAL</a:t>
            </a:r>
          </a:p>
          <a:p>
            <a:pPr algn="l"/>
            <a:r>
              <a:rPr sz="800" b="1" i="0">
                <a:solidFill>
                  <a:srgbClr val="2E6EA6"/>
                </a:solidFill>
                <a:latin typeface="Calibri"/>
              </a:rPr>
              <a:t>FK  owner_id → app_users  (CASCADE)</a:t>
            </a:r>
          </a:p>
          <a:p>
            <a:pPr algn="l"/>
            <a:r>
              <a:rPr sz="800" b="0" i="0">
                <a:solidFill>
                  <a:srgbClr val="1A1A1A"/>
                </a:solidFill>
                <a:latin typeface="Calibri"/>
              </a:rPr>
              <a:t>name  VARCHAR(255)</a:t>
            </a:r>
          </a:p>
          <a:p>
            <a:pPr algn="l"/>
            <a:r>
              <a:rPr sz="800" b="1" i="0">
                <a:solidFill>
                  <a:srgbClr val="2E6EA6"/>
                </a:solidFill>
                <a:latin typeface="Calibri"/>
              </a:rPr>
              <a:t>UQ  (owner_id, name)</a:t>
            </a:r>
          </a:p>
          <a:p>
            <a:pPr algn="l"/>
            <a:r>
              <a:rPr sz="800" b="0" i="0">
                <a:solidFill>
                  <a:srgbClr val="1A1A1A"/>
                </a:solidFill>
                <a:latin typeface="Calibri"/>
              </a:rPr>
              <a:t>created_at  TIMESTAMP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006840" y="4983480"/>
            <a:ext cx="2377440" cy="310896"/>
          </a:xfrm>
          <a:prstGeom prst="rect">
            <a:avLst/>
          </a:prstGeom>
          <a:solidFill>
            <a:srgbClr val="0F2B46"/>
          </a:solidFill>
          <a:ln>
            <a:noFill/>
          </a:ln>
          <a:effectLst/>
          <a:effectLst>
            <a:outerShdw blurRad="50800" dist="25400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task_tags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06840" y="5294376"/>
            <a:ext cx="2377440" cy="362102"/>
          </a:xfrm>
          <a:prstGeom prst="rect">
            <a:avLst/>
          </a:prstGeom>
          <a:solidFill>
            <a:srgbClr val="FFFFFF"/>
          </a:solidFill>
          <a:ln w="9525">
            <a:solidFill>
              <a:srgbClr val="B5B5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27432" bIns="27432"/>
          <a:lstStyle/>
          <a:p>
            <a:pPr algn="l"/>
            <a:r>
              <a:rPr sz="800" b="1" i="0">
                <a:solidFill>
                  <a:srgbClr val="2E6EA6"/>
                </a:solidFill>
                <a:latin typeface="Calibri"/>
              </a:rPr>
              <a:t>PK FK  task_id → tasks  (CASCADE)</a:t>
            </a:r>
          </a:p>
          <a:p>
            <a:pPr algn="l"/>
            <a:r>
              <a:rPr sz="800" b="1" i="0">
                <a:solidFill>
                  <a:srgbClr val="2E6EA6"/>
                </a:solidFill>
                <a:latin typeface="Calibri"/>
              </a:rPr>
              <a:t>PK FK  tag_id → tags  (CASCADE)</a:t>
            </a:r>
          </a:p>
        </p:txBody>
      </p:sp>
      <p:cxnSp>
        <p:nvCxnSpPr>
          <p:cNvPr id="21" name="Connector 20"/>
          <p:cNvCxnSpPr/>
          <p:nvPr/>
        </p:nvCxnSpPr>
        <p:spPr>
          <a:xfrm flipV="1">
            <a:off x="1691640" y="2212848"/>
            <a:ext cx="0" cy="530352"/>
          </a:xfrm>
          <a:prstGeom prst="line">
            <a:avLst/>
          </a:prstGeom>
          <a:ln w="15875">
            <a:solidFill>
              <a:srgbClr val="2E6EA6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1783080" y="2331720"/>
            <a:ext cx="1371600" cy="237744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/>
            <a:r>
              <a:rPr sz="850" b="1" i="0">
                <a:solidFill>
                  <a:srgbClr val="2E6EA6"/>
                </a:solidFill>
                <a:latin typeface="Calibri"/>
              </a:rPr>
              <a:t>1‒N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1691640" y="4069080"/>
            <a:ext cx="0" cy="914400"/>
          </a:xfrm>
          <a:prstGeom prst="line">
            <a:avLst/>
          </a:prstGeom>
          <a:ln w="15875">
            <a:solidFill>
              <a:srgbClr val="2E6EA6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1783080" y="4434840"/>
            <a:ext cx="1371600" cy="237744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/>
            <a:r>
              <a:rPr sz="850" b="1" i="0">
                <a:solidFill>
                  <a:srgbClr val="2E6EA6"/>
                </a:solidFill>
                <a:latin typeface="Calibri"/>
              </a:rPr>
              <a:t>1‒N</a:t>
            </a:r>
          </a:p>
        </p:txBody>
      </p:sp>
      <p:cxnSp>
        <p:nvCxnSpPr>
          <p:cNvPr id="25" name="Connector 24"/>
          <p:cNvCxnSpPr/>
          <p:nvPr/>
        </p:nvCxnSpPr>
        <p:spPr>
          <a:xfrm flipV="1">
            <a:off x="2880360" y="1965960"/>
            <a:ext cx="1554480" cy="1097280"/>
          </a:xfrm>
          <a:prstGeom prst="line">
            <a:avLst/>
          </a:prstGeom>
          <a:ln w="15875">
            <a:solidFill>
              <a:srgbClr val="2E6EA6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3246120" y="2240280"/>
            <a:ext cx="1371600" cy="237744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/>
            <a:r>
              <a:rPr sz="850" b="1" i="0">
                <a:solidFill>
                  <a:srgbClr val="2E6EA6"/>
                </a:solidFill>
                <a:latin typeface="Calibri"/>
              </a:rPr>
              <a:t>1‒N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2880360" y="3520440"/>
            <a:ext cx="1554480" cy="45720"/>
          </a:xfrm>
          <a:prstGeom prst="line">
            <a:avLst/>
          </a:prstGeom>
          <a:ln w="15875">
            <a:solidFill>
              <a:srgbClr val="2E6EA6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3246120" y="3246120"/>
            <a:ext cx="1371600" cy="237744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/>
            <a:r>
              <a:rPr sz="850" b="1" i="0">
                <a:solidFill>
                  <a:srgbClr val="2E6EA6"/>
                </a:solidFill>
                <a:latin typeface="Calibri"/>
              </a:rPr>
              <a:t>1‒N</a:t>
            </a:r>
          </a:p>
        </p:txBody>
      </p:sp>
      <p:cxnSp>
        <p:nvCxnSpPr>
          <p:cNvPr id="29" name="Connector 28"/>
          <p:cNvCxnSpPr/>
          <p:nvPr/>
        </p:nvCxnSpPr>
        <p:spPr>
          <a:xfrm flipV="1">
            <a:off x="2880360" y="2615184"/>
            <a:ext cx="1188720" cy="265176"/>
          </a:xfrm>
          <a:prstGeom prst="line">
            <a:avLst/>
          </a:prstGeom>
          <a:ln w="15875">
            <a:solidFill>
              <a:srgbClr val="2E6EA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4069080" y="2615184"/>
            <a:ext cx="4526280" cy="0"/>
          </a:xfrm>
          <a:prstGeom prst="line">
            <a:avLst/>
          </a:prstGeom>
          <a:ln w="15875">
            <a:solidFill>
              <a:srgbClr val="2E6EA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8595360" y="2615184"/>
            <a:ext cx="1097280" cy="448056"/>
          </a:xfrm>
          <a:prstGeom prst="line">
            <a:avLst/>
          </a:prstGeom>
          <a:ln w="15875">
            <a:solidFill>
              <a:srgbClr val="2E6EA6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7818120" y="2359152"/>
            <a:ext cx="1371600" cy="237744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/>
            <a:r>
              <a:rPr sz="850" b="1" i="0">
                <a:solidFill>
                  <a:srgbClr val="2E6EA6"/>
                </a:solidFill>
                <a:latin typeface="Calibri"/>
              </a:rPr>
              <a:t>1‒N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5669280" y="2395728"/>
            <a:ext cx="0" cy="347472"/>
          </a:xfrm>
          <a:prstGeom prst="line">
            <a:avLst/>
          </a:prstGeom>
          <a:ln w="15875">
            <a:solidFill>
              <a:srgbClr val="2E6EA6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5760720" y="2395728"/>
            <a:ext cx="1371600" cy="237744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/>
            <a:r>
              <a:rPr sz="850" b="1" i="0">
                <a:solidFill>
                  <a:srgbClr val="2E6EA6"/>
                </a:solidFill>
                <a:latin typeface="Calibri"/>
              </a:rPr>
              <a:t>1‒N</a:t>
            </a:r>
          </a:p>
        </p:txBody>
      </p:sp>
      <p:cxnSp>
        <p:nvCxnSpPr>
          <p:cNvPr id="35" name="Connector 34"/>
          <p:cNvCxnSpPr/>
          <p:nvPr/>
        </p:nvCxnSpPr>
        <p:spPr>
          <a:xfrm flipV="1">
            <a:off x="7223760" y="1920240"/>
            <a:ext cx="1783080" cy="1280160"/>
          </a:xfrm>
          <a:prstGeom prst="line">
            <a:avLst/>
          </a:prstGeom>
          <a:ln w="15875">
            <a:solidFill>
              <a:srgbClr val="2E6EA6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7863840" y="2148840"/>
            <a:ext cx="1371600" cy="237744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/>
            <a:r>
              <a:rPr sz="850" b="1" i="0">
                <a:solidFill>
                  <a:srgbClr val="2E6EA6"/>
                </a:solidFill>
                <a:latin typeface="Calibri"/>
              </a:rPr>
              <a:t>1‒N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7223760" y="4572000"/>
            <a:ext cx="1783080" cy="685800"/>
          </a:xfrm>
          <a:prstGeom prst="line">
            <a:avLst/>
          </a:prstGeom>
          <a:ln w="15875">
            <a:solidFill>
              <a:srgbClr val="2E6EA6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7863840" y="4709160"/>
            <a:ext cx="1371600" cy="237744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/>
            <a:r>
              <a:rPr sz="850" b="1" i="0">
                <a:solidFill>
                  <a:srgbClr val="2E6EA6"/>
                </a:solidFill>
                <a:latin typeface="Calibri"/>
              </a:rPr>
              <a:t>1‒N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10195560" y="4206240"/>
            <a:ext cx="0" cy="777240"/>
          </a:xfrm>
          <a:prstGeom prst="line">
            <a:avLst/>
          </a:prstGeom>
          <a:ln w="15875">
            <a:solidFill>
              <a:srgbClr val="2E6EA6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10287000" y="4434840"/>
            <a:ext cx="1371600" cy="237744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/>
            <a:r>
              <a:rPr sz="850" b="1" i="0">
                <a:solidFill>
                  <a:srgbClr val="2E6EA6"/>
                </a:solidFill>
                <a:latin typeface="Calibri"/>
              </a:rPr>
              <a:t>1‒N</a:t>
            </a:r>
          </a:p>
        </p:txBody>
      </p:sp>
      <p:cxnSp>
        <p:nvCxnSpPr>
          <p:cNvPr id="41" name="Connector 40"/>
          <p:cNvCxnSpPr/>
          <p:nvPr/>
        </p:nvCxnSpPr>
        <p:spPr>
          <a:xfrm flipH="1">
            <a:off x="3200400" y="5138928"/>
            <a:ext cx="1920240" cy="438912"/>
          </a:xfrm>
          <a:prstGeom prst="line">
            <a:avLst/>
          </a:prstGeom>
          <a:ln w="15875">
            <a:solidFill>
              <a:srgbClr val="2E6EA6"/>
            </a:solidFill>
            <a:prstDash val="dash"/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3977639" y="5029200"/>
            <a:ext cx="1371600" cy="237744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/>
            <a:r>
              <a:rPr sz="850" b="1" i="0">
                <a:solidFill>
                  <a:srgbClr val="2E6EA6"/>
                </a:solidFill>
                <a:latin typeface="Calibri"/>
              </a:rPr>
              <a:t>0..1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434840" y="5669280"/>
            <a:ext cx="4206240" cy="777240"/>
          </a:xfrm>
          <a:prstGeom prst="roundRect">
            <a:avLst/>
          </a:prstGeom>
          <a:solidFill>
            <a:srgbClr val="F2F4F7"/>
          </a:solidFill>
          <a:ln w="12700">
            <a:solidFill>
              <a:srgbClr val="C9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526280" y="5724144"/>
            <a:ext cx="4069080" cy="68580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  <a:latin typeface="Calibri"/>
              </a:rPr>
              <a:t>PK clave primaria · FK clave foránea · UQ única · ──► 1‒N · ╌╌► opcional (SET NULL)</a:t>
            </a:r>
          </a:p>
          <a:p>
            <a:pPr algn="l"/>
            <a:r>
              <a:rPr sz="800" b="0" i="1">
                <a:solidFill>
                  <a:srgbClr val="5A5A5A"/>
                </a:solidFill>
                <a:latin typeface="Calibri"/>
              </a:rPr>
              <a:t>Índices: (owner_id, scheduled_date) · (owner_id, status) · (owner_id, importance) · (owner_id, completed_at)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